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9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7" r:id="rId10"/>
    <p:sldId id="263" r:id="rId11"/>
    <p:sldId id="264" r:id="rId12"/>
    <p:sldId id="265" r:id="rId13"/>
    <p:sldId id="266" r:id="rId14"/>
    <p:sldId id="268" r:id="rId15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128" y="2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80" dirty="0"/>
              <a:t>Ideathon’24</a:t>
            </a:r>
            <a:r>
              <a:rPr spc="-100" dirty="0"/>
              <a:t> </a:t>
            </a:r>
            <a:r>
              <a:rPr spc="-75" dirty="0"/>
              <a:t>E6</a:t>
            </a:r>
            <a:r>
              <a:rPr spc="-114" dirty="0"/>
              <a:t>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spc="-90" dirty="0"/>
              <a:t>ACIC</a:t>
            </a:r>
            <a:r>
              <a:rPr spc="-110" dirty="0"/>
              <a:t> </a:t>
            </a:r>
            <a:r>
              <a:rPr spc="-140" dirty="0"/>
              <a:t>KL</a:t>
            </a:r>
            <a:r>
              <a:rPr spc="-90" dirty="0"/>
              <a:t> </a:t>
            </a:r>
            <a:r>
              <a:rPr spc="-85" dirty="0"/>
              <a:t>Startups</a:t>
            </a:r>
            <a:r>
              <a:rPr spc="-105" dirty="0"/>
              <a:t> </a:t>
            </a:r>
            <a:r>
              <a:rPr spc="-50" dirty="0"/>
              <a:t>Foundation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80" dirty="0"/>
              <a:t>Ideathon’24</a:t>
            </a:r>
            <a:r>
              <a:rPr spc="-100" dirty="0"/>
              <a:t> </a:t>
            </a:r>
            <a:r>
              <a:rPr spc="-75" dirty="0"/>
              <a:t>E6</a:t>
            </a:r>
            <a:r>
              <a:rPr spc="-114" dirty="0"/>
              <a:t>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spc="-90" dirty="0"/>
              <a:t>ACIC</a:t>
            </a:r>
            <a:r>
              <a:rPr spc="-110" dirty="0"/>
              <a:t> </a:t>
            </a:r>
            <a:r>
              <a:rPr spc="-140" dirty="0"/>
              <a:t>KL</a:t>
            </a:r>
            <a:r>
              <a:rPr spc="-90" dirty="0"/>
              <a:t> </a:t>
            </a:r>
            <a:r>
              <a:rPr spc="-85" dirty="0"/>
              <a:t>Startups</a:t>
            </a:r>
            <a:r>
              <a:rPr spc="-105" dirty="0"/>
              <a:t> </a:t>
            </a:r>
            <a:r>
              <a:rPr spc="-50" dirty="0"/>
              <a:t>Foundation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80" dirty="0"/>
              <a:t>Ideathon’24</a:t>
            </a:r>
            <a:r>
              <a:rPr spc="-100" dirty="0"/>
              <a:t> </a:t>
            </a:r>
            <a:r>
              <a:rPr spc="-75" dirty="0"/>
              <a:t>E6</a:t>
            </a:r>
            <a:r>
              <a:rPr spc="-114" dirty="0"/>
              <a:t>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spc="-90" dirty="0"/>
              <a:t>ACIC</a:t>
            </a:r>
            <a:r>
              <a:rPr spc="-110" dirty="0"/>
              <a:t> </a:t>
            </a:r>
            <a:r>
              <a:rPr spc="-140" dirty="0"/>
              <a:t>KL</a:t>
            </a:r>
            <a:r>
              <a:rPr spc="-90" dirty="0"/>
              <a:t> </a:t>
            </a:r>
            <a:r>
              <a:rPr spc="-85" dirty="0"/>
              <a:t>Startups</a:t>
            </a:r>
            <a:r>
              <a:rPr spc="-105" dirty="0"/>
              <a:t> </a:t>
            </a:r>
            <a:r>
              <a:rPr spc="-50" dirty="0"/>
              <a:t>Foundation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80" dirty="0"/>
              <a:t>Ideathon’24</a:t>
            </a:r>
            <a:r>
              <a:rPr spc="-100" dirty="0"/>
              <a:t> </a:t>
            </a:r>
            <a:r>
              <a:rPr spc="-75" dirty="0"/>
              <a:t>E6</a:t>
            </a:r>
            <a:r>
              <a:rPr spc="-114" dirty="0"/>
              <a:t>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spc="-90" dirty="0"/>
              <a:t>ACIC</a:t>
            </a:r>
            <a:r>
              <a:rPr spc="-110" dirty="0"/>
              <a:t> </a:t>
            </a:r>
            <a:r>
              <a:rPr spc="-140" dirty="0"/>
              <a:t>KL</a:t>
            </a:r>
            <a:r>
              <a:rPr spc="-90" dirty="0"/>
              <a:t> </a:t>
            </a:r>
            <a:r>
              <a:rPr spc="-85" dirty="0"/>
              <a:t>Startups</a:t>
            </a:r>
            <a:r>
              <a:rPr spc="-105" dirty="0"/>
              <a:t> </a:t>
            </a:r>
            <a:r>
              <a:rPr spc="-50" dirty="0"/>
              <a:t>Foundation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80" dirty="0"/>
              <a:t>Ideathon’24</a:t>
            </a:r>
            <a:r>
              <a:rPr spc="-100" dirty="0"/>
              <a:t> </a:t>
            </a:r>
            <a:r>
              <a:rPr spc="-75" dirty="0"/>
              <a:t>E6</a:t>
            </a:r>
            <a:r>
              <a:rPr spc="-114" dirty="0"/>
              <a:t>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spc="-90" dirty="0"/>
              <a:t>ACIC</a:t>
            </a:r>
            <a:r>
              <a:rPr spc="-110" dirty="0"/>
              <a:t> </a:t>
            </a:r>
            <a:r>
              <a:rPr spc="-140" dirty="0"/>
              <a:t>KL</a:t>
            </a:r>
            <a:r>
              <a:rPr spc="-90" dirty="0"/>
              <a:t> </a:t>
            </a:r>
            <a:r>
              <a:rPr spc="-85" dirty="0"/>
              <a:t>Startups</a:t>
            </a:r>
            <a:r>
              <a:rPr spc="-105" dirty="0"/>
              <a:t> </a:t>
            </a:r>
            <a:r>
              <a:rPr spc="-50" dirty="0"/>
              <a:t>Foundation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609676"/>
            <a:ext cx="9410700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707918"/>
            <a:ext cx="10360660" cy="36074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957065" y="6432753"/>
            <a:ext cx="4277995" cy="254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80" dirty="0"/>
              <a:t>Ideathon’24</a:t>
            </a:r>
            <a:r>
              <a:rPr spc="-100" dirty="0"/>
              <a:t> </a:t>
            </a:r>
            <a:r>
              <a:rPr spc="-75" dirty="0"/>
              <a:t>E6</a:t>
            </a:r>
            <a:r>
              <a:rPr spc="-114" dirty="0"/>
              <a:t>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spc="-90" dirty="0"/>
              <a:t>ACIC</a:t>
            </a:r>
            <a:r>
              <a:rPr spc="-110" dirty="0"/>
              <a:t> </a:t>
            </a:r>
            <a:r>
              <a:rPr spc="-140" dirty="0"/>
              <a:t>KL</a:t>
            </a:r>
            <a:r>
              <a:rPr spc="-90" dirty="0"/>
              <a:t> </a:t>
            </a:r>
            <a:r>
              <a:rPr spc="-85" dirty="0"/>
              <a:t>Startups</a:t>
            </a:r>
            <a:r>
              <a:rPr spc="-105" dirty="0"/>
              <a:t> </a:t>
            </a:r>
            <a:r>
              <a:rPr spc="-50" dirty="0"/>
              <a:t>Foundation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871CA-B605-3797-82E8-362D7934A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7B914B-2CF7-45E5-B28D-8C5C32F213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AC045C-A38B-0D90-7B75-2C43E23CEA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0"/>
            <a:ext cx="9601200" cy="701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7162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19400" y="1320749"/>
            <a:ext cx="655319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defRPr sz="3000" b="1">
                <a:solidFill>
                  <a:srgbClr val="1F364A"/>
                </a:solidFill>
                <a:latin typeface="Aptos Display"/>
              </a:defRPr>
            </a:pPr>
            <a:r>
              <a:rPr dirty="0"/>
              <a:t>Automated Student Attendance</a:t>
            </a:r>
          </a:p>
          <a:p>
            <a:pPr>
              <a:defRPr sz="3000" b="1">
                <a:solidFill>
                  <a:srgbClr val="1F364A"/>
                </a:solidFill>
                <a:latin typeface="Aptos Display"/>
              </a:defRPr>
            </a:pPr>
            <a:r>
              <a:rPr dirty="0"/>
              <a:t>Monitoring &amp; Analytics System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8200" y="2994736"/>
            <a:ext cx="10668000" cy="167545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defRPr sz="1800">
                <a:solidFill>
                  <a:srgbClr val="30373D"/>
                </a:solidFill>
                <a:latin typeface="Aptos"/>
              </a:defRPr>
            </a:pPr>
            <a:r>
              <a:rPr dirty="0"/>
              <a:t>Design Thinking for Innovation &amp; Entrepreneurship (DTIE)</a:t>
            </a:r>
          </a:p>
          <a:p>
            <a:pPr>
              <a:defRPr sz="1800">
                <a:solidFill>
                  <a:srgbClr val="30373D"/>
                </a:solidFill>
                <a:latin typeface="Aptos"/>
              </a:defRPr>
            </a:pPr>
            <a:endParaRPr dirty="0"/>
          </a:p>
          <a:p>
            <a:pPr>
              <a:defRPr sz="1800">
                <a:solidFill>
                  <a:srgbClr val="30373D"/>
                </a:solidFill>
                <a:latin typeface="Aptos"/>
              </a:defRPr>
            </a:pPr>
            <a:r>
              <a:rPr dirty="0"/>
              <a:t>Section: 16  |  </a:t>
            </a:r>
            <a:r>
              <a:rPr lang="en-US" dirty="0"/>
              <a:t>GROUP: 5</a:t>
            </a:r>
            <a:endParaRPr dirty="0"/>
          </a:p>
          <a:p>
            <a:pPr>
              <a:defRPr sz="1800">
                <a:solidFill>
                  <a:srgbClr val="30373D"/>
                </a:solidFill>
                <a:latin typeface="Aptos"/>
              </a:defRPr>
            </a:pPr>
            <a:endParaRPr dirty="0"/>
          </a:p>
          <a:p>
            <a:pPr>
              <a:defRPr sz="1800">
                <a:solidFill>
                  <a:srgbClr val="30373D"/>
                </a:solidFill>
                <a:latin typeface="Aptos"/>
              </a:defRPr>
            </a:pPr>
            <a:r>
              <a:rPr dirty="0"/>
              <a:t>Department of Computer Science &amp; Engineering</a:t>
            </a:r>
          </a:p>
          <a:p>
            <a:pPr>
              <a:defRPr sz="1800">
                <a:solidFill>
                  <a:srgbClr val="30373D"/>
                </a:solidFill>
                <a:latin typeface="Aptos"/>
              </a:defRPr>
            </a:pPr>
            <a:r>
              <a:rPr dirty="0"/>
              <a:t>Academic Year 2025–2026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60" dirty="0"/>
              <a:t>Team</a:t>
            </a:r>
            <a:r>
              <a:rPr spc="-105" dirty="0"/>
              <a:t> </a:t>
            </a:r>
            <a:r>
              <a:rPr spc="-70" dirty="0"/>
              <a:t>Members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-6350" y="6214617"/>
            <a:ext cx="12204700" cy="650240"/>
            <a:chOff x="-6350" y="6214617"/>
            <a:chExt cx="12204700" cy="650240"/>
          </a:xfrm>
        </p:grpSpPr>
        <p:sp>
          <p:nvSpPr>
            <p:cNvPr id="4" name="object 4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12192000" y="0"/>
                  </a:moveTo>
                  <a:lnTo>
                    <a:pt x="0" y="0"/>
                  </a:lnTo>
                  <a:lnTo>
                    <a:pt x="0" y="637032"/>
                  </a:lnTo>
                  <a:lnTo>
                    <a:pt x="12192000" y="63703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0" y="637032"/>
                  </a:moveTo>
                  <a:lnTo>
                    <a:pt x="12192000" y="637032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7032"/>
                  </a:lnTo>
                  <a:close/>
                </a:path>
              </a:pathLst>
            </a:custGeom>
            <a:ln w="126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33400" y="6432753"/>
            <a:ext cx="108204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IN" spc="-80" dirty="0"/>
              <a:t>DTIE  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lang="en-IN" spc="-110" dirty="0"/>
              <a:t>      </a:t>
            </a:r>
            <a:r>
              <a:rPr lang="en-US" spc="-110" dirty="0"/>
              <a:t>Department of Multi Disciplinary Innovation &amp; Entrepreneurship </a:t>
            </a:r>
            <a:endParaRPr spc="-50" dirty="0"/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5349240" cy="4343400"/>
          </a:xfrm>
          <a:prstGeom prst="roundRect">
            <a:avLst/>
          </a:prstGeom>
          <a:solidFill>
            <a:srgbClr val="EFF4F4"/>
          </a:solidFill>
          <a:ln>
            <a:solidFill>
              <a:srgbClr val="DA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600200"/>
            <a:ext cx="82296" cy="4343400"/>
          </a:xfrm>
          <a:prstGeom prst="rect">
            <a:avLst/>
          </a:prstGeom>
          <a:solidFill>
            <a:srgbClr val="237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1" y="1673352"/>
            <a:ext cx="5074920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F364A"/>
                </a:solidFill>
                <a:latin typeface="Aptos"/>
              </a:defRPr>
            </a:pPr>
            <a:r>
              <a:t>Project Team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057400"/>
            <a:ext cx="5056631" cy="383133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30373D"/>
                </a:solidFill>
                <a:latin typeface="Aptos"/>
              </a:defRPr>
            </a:pPr>
            <a:r>
              <a:t>Neha Siddamsetty</a:t>
            </a:r>
          </a:p>
          <a:p>
            <a:pPr>
              <a:spcAft>
                <a:spcPts val="700"/>
              </a:spcAft>
              <a:defRPr sz="1600" b="0">
                <a:solidFill>
                  <a:srgbClr val="30373D"/>
                </a:solidFill>
                <a:latin typeface="Aptos"/>
              </a:defRPr>
            </a:pPr>
            <a:r>
              <a:t>Nirmuktha</a:t>
            </a:r>
          </a:p>
          <a:p>
            <a:pPr>
              <a:spcAft>
                <a:spcPts val="700"/>
              </a:spcAft>
              <a:defRPr sz="1600" b="0">
                <a:solidFill>
                  <a:srgbClr val="30373D"/>
                </a:solidFill>
                <a:latin typeface="Aptos"/>
              </a:defRPr>
            </a:pPr>
            <a:r>
              <a:t>Dedeepya</a:t>
            </a:r>
          </a:p>
          <a:p>
            <a:pPr>
              <a:spcAft>
                <a:spcPts val="700"/>
              </a:spcAft>
              <a:defRPr sz="1600" b="0">
                <a:solidFill>
                  <a:srgbClr val="30373D"/>
                </a:solidFill>
                <a:latin typeface="Aptos"/>
              </a:defRPr>
            </a:pPr>
            <a:r>
              <a:t>Shanmukha</a:t>
            </a:r>
          </a:p>
          <a:p>
            <a:pPr>
              <a:spcAft>
                <a:spcPts val="700"/>
              </a:spcAft>
              <a:defRPr sz="1600" b="0">
                <a:solidFill>
                  <a:srgbClr val="30373D"/>
                </a:solidFill>
                <a:latin typeface="Aptos"/>
              </a:defRPr>
            </a:pPr>
            <a:r>
              <a:t>Radhika</a:t>
            </a:r>
          </a:p>
          <a:p>
            <a:pPr>
              <a:spcAft>
                <a:spcPts val="700"/>
              </a:spcAft>
              <a:defRPr sz="1600" b="0">
                <a:solidFill>
                  <a:srgbClr val="30373D"/>
                </a:solidFill>
                <a:latin typeface="Aptos"/>
              </a:defRPr>
            </a:pPr>
            <a:r>
              <a:t>Srihitha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00200"/>
            <a:ext cx="5349240" cy="4343400"/>
          </a:xfrm>
          <a:prstGeom prst="roundRect">
            <a:avLst/>
          </a:prstGeom>
          <a:solidFill>
            <a:srgbClr val="EFF4F4"/>
          </a:solidFill>
          <a:ln>
            <a:solidFill>
              <a:srgbClr val="DA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600200"/>
            <a:ext cx="82296" cy="4343400"/>
          </a:xfrm>
          <a:prstGeom prst="rect">
            <a:avLst/>
          </a:prstGeom>
          <a:solidFill>
            <a:srgbClr val="BE8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82512" y="1673352"/>
            <a:ext cx="5074920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F364A"/>
                </a:solidFill>
                <a:latin typeface="Aptos"/>
              </a:defRPr>
            </a:pPr>
            <a:r>
              <a:t>Project Focus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2057400"/>
            <a:ext cx="5056631" cy="383133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30373D"/>
                </a:solidFill>
                <a:latin typeface="Aptos"/>
              </a:defRPr>
            </a:pPr>
            <a:r>
              <a:t>A cloud-based system that automates attendance capture, keeps records updated in real time, and turns attendance data into useful insights.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70" dirty="0"/>
              <a:t>Vision</a:t>
            </a:r>
            <a:r>
              <a:rPr spc="-180" dirty="0"/>
              <a:t> </a:t>
            </a:r>
            <a:r>
              <a:rPr spc="-25" dirty="0"/>
              <a:t>and</a:t>
            </a:r>
            <a:r>
              <a:rPr spc="-185" dirty="0"/>
              <a:t> </a:t>
            </a:r>
            <a:r>
              <a:rPr spc="-40" dirty="0"/>
              <a:t>Mission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-6350" y="6214617"/>
            <a:ext cx="12204700" cy="650240"/>
            <a:chOff x="-6350" y="6214617"/>
            <a:chExt cx="12204700" cy="650240"/>
          </a:xfrm>
        </p:grpSpPr>
        <p:sp>
          <p:nvSpPr>
            <p:cNvPr id="4" name="object 4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12192000" y="0"/>
                  </a:moveTo>
                  <a:lnTo>
                    <a:pt x="0" y="0"/>
                  </a:lnTo>
                  <a:lnTo>
                    <a:pt x="0" y="637032"/>
                  </a:lnTo>
                  <a:lnTo>
                    <a:pt x="12192000" y="63703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0" y="637032"/>
                  </a:moveTo>
                  <a:lnTo>
                    <a:pt x="12192000" y="637032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7032"/>
                  </a:lnTo>
                  <a:close/>
                </a:path>
              </a:pathLst>
            </a:custGeom>
            <a:ln w="126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6">
            <a:extLst>
              <a:ext uri="{FF2B5EF4-FFF2-40B4-BE49-F238E27FC236}">
                <a16:creationId xmlns:a16="http://schemas.microsoft.com/office/drawing/2014/main" id="{507D7311-7F05-D1BA-0F8C-EDE064B2C6D5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33400" y="6432753"/>
            <a:ext cx="108204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IN" spc="-80" dirty="0"/>
              <a:t>DTIE  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lang="en-IN" spc="-110" dirty="0"/>
              <a:t>      </a:t>
            </a:r>
            <a:r>
              <a:rPr lang="en-US" spc="-110" dirty="0"/>
              <a:t>Department of Multi Disciplinary Innovation &amp; Entrepreneurship </a:t>
            </a:r>
            <a:endParaRPr spc="-50" dirty="0"/>
          </a:p>
        </p:txBody>
      </p:sp>
      <p:sp>
        <p:nvSpPr>
          <p:cNvPr id="13" name="Rounded Rectangle 12"/>
          <p:cNvSpPr/>
          <p:nvPr/>
        </p:nvSpPr>
        <p:spPr>
          <a:xfrm>
            <a:off x="640080" y="1600200"/>
            <a:ext cx="5349240" cy="4343400"/>
          </a:xfrm>
          <a:prstGeom prst="roundRect">
            <a:avLst/>
          </a:prstGeom>
          <a:solidFill>
            <a:srgbClr val="EFF4F4"/>
          </a:solidFill>
          <a:ln>
            <a:solidFill>
              <a:srgbClr val="DA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1600200"/>
            <a:ext cx="82296" cy="4343400"/>
          </a:xfrm>
          <a:prstGeom prst="rect">
            <a:avLst/>
          </a:prstGeom>
          <a:solidFill>
            <a:srgbClr val="237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4671" y="1673352"/>
            <a:ext cx="5074920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F364A"/>
                </a:solidFill>
                <a:latin typeface="Aptos"/>
              </a:defRPr>
            </a:pPr>
            <a:r>
              <a:t>Vision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2057400"/>
            <a:ext cx="5056631" cy="383133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30373D"/>
                </a:solidFill>
                <a:latin typeface="Aptos"/>
              </a:defRPr>
            </a:pPr>
            <a:r>
              <a:t>Make college attendance simple, transparent, accurate, and accessible to students, faculty, and administrators.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600200"/>
            <a:ext cx="5349240" cy="4343400"/>
          </a:xfrm>
          <a:prstGeom prst="roundRect">
            <a:avLst/>
          </a:prstGeom>
          <a:solidFill>
            <a:srgbClr val="EFF4F4"/>
          </a:solidFill>
          <a:ln>
            <a:solidFill>
              <a:srgbClr val="DA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0" y="1600200"/>
            <a:ext cx="82296" cy="4343400"/>
          </a:xfrm>
          <a:prstGeom prst="rect">
            <a:avLst/>
          </a:prstGeom>
          <a:solidFill>
            <a:srgbClr val="BE8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82512" y="1673352"/>
            <a:ext cx="5074920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F364A"/>
                </a:solidFill>
                <a:latin typeface="Aptos"/>
              </a:defRPr>
            </a:pPr>
            <a:r>
              <a:t>Mission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2057400"/>
            <a:ext cx="5056631" cy="383133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30373D"/>
                </a:solidFill>
                <a:latin typeface="Aptos"/>
              </a:defRPr>
            </a:pPr>
            <a:r>
              <a:t>Reduce manual work through QR-based and optional biometric verification, centralize records in the cloud, and help faculty identify attendance risks early.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90" dirty="0"/>
              <a:t>Problem</a:t>
            </a:r>
            <a:r>
              <a:rPr spc="-130" dirty="0"/>
              <a:t> </a:t>
            </a:r>
            <a:r>
              <a:rPr spc="-70" dirty="0"/>
              <a:t>Statement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-6350" y="6214617"/>
            <a:ext cx="12204700" cy="650240"/>
            <a:chOff x="-6350" y="6214617"/>
            <a:chExt cx="12204700" cy="650240"/>
          </a:xfrm>
        </p:grpSpPr>
        <p:sp>
          <p:nvSpPr>
            <p:cNvPr id="4" name="object 4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12192000" y="0"/>
                  </a:moveTo>
                  <a:lnTo>
                    <a:pt x="0" y="0"/>
                  </a:lnTo>
                  <a:lnTo>
                    <a:pt x="0" y="637032"/>
                  </a:lnTo>
                  <a:lnTo>
                    <a:pt x="12192000" y="63703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0" y="637032"/>
                  </a:moveTo>
                  <a:lnTo>
                    <a:pt x="12192000" y="637032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7032"/>
                  </a:lnTo>
                  <a:close/>
                </a:path>
              </a:pathLst>
            </a:custGeom>
            <a:ln w="126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1BFD64D8-5CBA-1604-7781-344782C3E51E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33400" y="6432753"/>
            <a:ext cx="108204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US" spc="-80" dirty="0"/>
              <a:t>DTIE   </a:t>
            </a:r>
            <a:r>
              <a:rPr spc="-114" dirty="0"/>
              <a:t> </a:t>
            </a:r>
            <a:r>
              <a:rPr spc="-130" dirty="0"/>
              <a:t>|</a:t>
            </a:r>
            <a:r>
              <a:rPr lang="en-IN" spc="-130" dirty="0"/>
              <a:t>      </a:t>
            </a:r>
            <a:r>
              <a:rPr spc="-110" dirty="0"/>
              <a:t> </a:t>
            </a:r>
            <a:r>
              <a:rPr lang="en-US" spc="-110" dirty="0"/>
              <a:t>Department of Multi Disciplinary Innovation &amp; Entrepreneurship </a:t>
            </a:r>
            <a:endParaRPr spc="-50" dirty="0"/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5349240" cy="4343400"/>
          </a:xfrm>
          <a:prstGeom prst="roundRect">
            <a:avLst/>
          </a:prstGeom>
          <a:solidFill>
            <a:srgbClr val="EFF4F4"/>
          </a:solidFill>
          <a:ln>
            <a:solidFill>
              <a:srgbClr val="DA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600200"/>
            <a:ext cx="82296" cy="4343400"/>
          </a:xfrm>
          <a:prstGeom prst="rect">
            <a:avLst/>
          </a:prstGeom>
          <a:solidFill>
            <a:srgbClr val="237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1" y="1673352"/>
            <a:ext cx="5074920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F364A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057400"/>
            <a:ext cx="5056631" cy="383133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30373D"/>
                </a:solidFill>
                <a:latin typeface="Aptos"/>
              </a:defRPr>
            </a:pPr>
            <a:r>
              <a:t>Manual roll calls take around 10–15 minutes per class. Paper or disconnected records can lead to missed students, duplicate entries, and inaccurate totals.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00200"/>
            <a:ext cx="5349240" cy="4343400"/>
          </a:xfrm>
          <a:prstGeom prst="roundRect">
            <a:avLst/>
          </a:prstGeom>
          <a:solidFill>
            <a:srgbClr val="EFF4F4"/>
          </a:solidFill>
          <a:ln>
            <a:solidFill>
              <a:srgbClr val="DA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600200"/>
            <a:ext cx="82296" cy="4343400"/>
          </a:xfrm>
          <a:prstGeom prst="rect">
            <a:avLst/>
          </a:prstGeom>
          <a:solidFill>
            <a:srgbClr val="BE8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82512" y="1673352"/>
            <a:ext cx="5074920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F364A"/>
                </a:solidFill>
                <a:latin typeface="Aptos"/>
              </a:defRPr>
            </a:pPr>
            <a:r>
              <a:t>Why It Matters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2057400"/>
            <a:ext cx="5056631" cy="383133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30373D"/>
                </a:solidFill>
                <a:latin typeface="Aptos"/>
              </a:defRPr>
            </a:pPr>
            <a:r>
              <a:t>Attendance data may not be available until later, so students cannot track their status easily and faculty may notice low attendance too late to intervene.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80" dirty="0"/>
              <a:t>Research</a:t>
            </a:r>
            <a:r>
              <a:rPr spc="-170" dirty="0"/>
              <a:t> </a:t>
            </a:r>
            <a:r>
              <a:rPr dirty="0"/>
              <a:t>/</a:t>
            </a:r>
            <a:r>
              <a:rPr spc="-120" dirty="0"/>
              <a:t> </a:t>
            </a:r>
            <a:r>
              <a:rPr spc="-55" dirty="0"/>
              <a:t>Facts</a:t>
            </a:r>
            <a:r>
              <a:rPr spc="-155" dirty="0"/>
              <a:t> </a:t>
            </a:r>
            <a:r>
              <a:rPr dirty="0"/>
              <a:t>/</a:t>
            </a:r>
            <a:r>
              <a:rPr spc="-110" dirty="0"/>
              <a:t> </a:t>
            </a:r>
            <a:r>
              <a:rPr spc="-95" dirty="0"/>
              <a:t>Market</a:t>
            </a:r>
            <a:r>
              <a:rPr spc="-145" dirty="0"/>
              <a:t> </a:t>
            </a:r>
            <a:r>
              <a:rPr dirty="0"/>
              <a:t>&amp;</a:t>
            </a:r>
            <a:r>
              <a:rPr spc="-145" dirty="0"/>
              <a:t> </a:t>
            </a:r>
            <a:r>
              <a:rPr spc="-70" dirty="0"/>
              <a:t>Industry</a:t>
            </a:r>
            <a:r>
              <a:rPr spc="-165" dirty="0"/>
              <a:t> </a:t>
            </a:r>
            <a:r>
              <a:rPr spc="-10" dirty="0"/>
              <a:t>Study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-6350" y="6214617"/>
            <a:ext cx="12204700" cy="650240"/>
            <a:chOff x="-6350" y="6214617"/>
            <a:chExt cx="12204700" cy="650240"/>
          </a:xfrm>
        </p:grpSpPr>
        <p:sp>
          <p:nvSpPr>
            <p:cNvPr id="4" name="object 4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12192000" y="0"/>
                  </a:moveTo>
                  <a:lnTo>
                    <a:pt x="0" y="0"/>
                  </a:lnTo>
                  <a:lnTo>
                    <a:pt x="0" y="637032"/>
                  </a:lnTo>
                  <a:lnTo>
                    <a:pt x="12192000" y="63703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0" y="637032"/>
                  </a:moveTo>
                  <a:lnTo>
                    <a:pt x="12192000" y="637032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7032"/>
                  </a:lnTo>
                  <a:close/>
                </a:path>
              </a:pathLst>
            </a:custGeom>
            <a:ln w="126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E3C74381-BE4E-DEC6-D1B5-C788904343F1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33400" y="6432753"/>
            <a:ext cx="108204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IN" spc="-80" dirty="0"/>
              <a:t>DTIE  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lang="en-IN" spc="-110" dirty="0"/>
              <a:t>      </a:t>
            </a:r>
            <a:r>
              <a:rPr lang="en-US" spc="-110" dirty="0"/>
              <a:t>Department of Multi Disciplinary Innovation &amp; Entrepreneurship </a:t>
            </a:r>
            <a:endParaRPr spc="-50" dirty="0"/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5349240" cy="4343400"/>
          </a:xfrm>
          <a:prstGeom prst="roundRect">
            <a:avLst/>
          </a:prstGeom>
          <a:solidFill>
            <a:srgbClr val="EFF4F4"/>
          </a:solidFill>
          <a:ln>
            <a:solidFill>
              <a:srgbClr val="DA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600200"/>
            <a:ext cx="82296" cy="4343400"/>
          </a:xfrm>
          <a:prstGeom prst="rect">
            <a:avLst/>
          </a:prstGeom>
          <a:solidFill>
            <a:srgbClr val="237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1" y="1673352"/>
            <a:ext cx="5074920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F364A"/>
                </a:solidFill>
                <a:latin typeface="Aptos"/>
              </a:defRPr>
            </a:pPr>
            <a:r>
              <a:t>What We Know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057400"/>
            <a:ext cx="5056631" cy="383133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30373D"/>
                </a:solidFill>
                <a:latin typeface="Aptos"/>
              </a:defRPr>
            </a:pPr>
            <a:r>
              <a:t>• Manual marking can consume 10–15 minutes per class</a:t>
            </a:r>
          </a:p>
          <a:p>
            <a:pPr>
              <a:spcAft>
                <a:spcPts val="700"/>
              </a:spcAft>
              <a:defRPr sz="1600" b="0">
                <a:solidFill>
                  <a:srgbClr val="30373D"/>
                </a:solidFill>
                <a:latin typeface="Aptos"/>
              </a:defRPr>
            </a:pPr>
            <a:r>
              <a:t>• Records may contain omissions or duplicate entries</a:t>
            </a:r>
          </a:p>
          <a:p>
            <a:pPr>
              <a:spcAft>
                <a:spcPts val="700"/>
              </a:spcAft>
              <a:defRPr sz="1600" b="0">
                <a:solidFill>
                  <a:srgbClr val="30373D"/>
                </a:solidFill>
                <a:latin typeface="Aptos"/>
              </a:defRPr>
            </a:pPr>
            <a:r>
              <a:t>• Weekly compilation delays action</a:t>
            </a:r>
          </a:p>
          <a:p>
            <a:pPr>
              <a:spcAft>
                <a:spcPts val="700"/>
              </a:spcAft>
              <a:defRPr sz="1600" b="0">
                <a:solidFill>
                  <a:srgbClr val="30373D"/>
                </a:solidFill>
                <a:latin typeface="Aptos"/>
              </a:defRPr>
            </a:pPr>
            <a:r>
              <a:t>• The proposed system targets &gt;99% accuracy; this is a design goal, not a measured result.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00200"/>
            <a:ext cx="5349240" cy="4343400"/>
          </a:xfrm>
          <a:prstGeom prst="roundRect">
            <a:avLst/>
          </a:prstGeom>
          <a:solidFill>
            <a:srgbClr val="EFF4F4"/>
          </a:solidFill>
          <a:ln>
            <a:solidFill>
              <a:srgbClr val="DA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600200"/>
            <a:ext cx="82296" cy="4343400"/>
          </a:xfrm>
          <a:prstGeom prst="rect">
            <a:avLst/>
          </a:prstGeom>
          <a:solidFill>
            <a:srgbClr val="BE8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82512" y="1673352"/>
            <a:ext cx="5074920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F364A"/>
                </a:solidFill>
                <a:latin typeface="Aptos"/>
              </a:defRPr>
            </a:pPr>
            <a:r>
              <a:t>Market / Industry Opportunity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2057400"/>
            <a:ext cx="5056631" cy="383133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30373D"/>
                </a:solidFill>
                <a:latin typeface="Aptos"/>
              </a:defRPr>
            </a:pPr>
            <a:r>
              <a:t>Colleges increasingly use digital student portals and cloud services. A unified attendance platform can connect daily marking, reporting, and early-warning workflows.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30" dirty="0"/>
              <a:t>Target</a:t>
            </a:r>
            <a:r>
              <a:rPr spc="-120" dirty="0"/>
              <a:t> </a:t>
            </a:r>
            <a:r>
              <a:rPr spc="-20" dirty="0"/>
              <a:t>User</a:t>
            </a:r>
            <a:r>
              <a:rPr spc="-160" dirty="0"/>
              <a:t> </a:t>
            </a:r>
            <a:r>
              <a:rPr dirty="0"/>
              <a:t>-</a:t>
            </a:r>
            <a:r>
              <a:rPr spc="-100" dirty="0"/>
              <a:t> </a:t>
            </a:r>
            <a:r>
              <a:rPr spc="-50" dirty="0"/>
              <a:t>Customer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-6350" y="6214617"/>
            <a:ext cx="12204700" cy="650240"/>
            <a:chOff x="-6350" y="6214617"/>
            <a:chExt cx="12204700" cy="650240"/>
          </a:xfrm>
        </p:grpSpPr>
        <p:sp>
          <p:nvSpPr>
            <p:cNvPr id="4" name="object 4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12192000" y="0"/>
                  </a:moveTo>
                  <a:lnTo>
                    <a:pt x="0" y="0"/>
                  </a:lnTo>
                  <a:lnTo>
                    <a:pt x="0" y="637032"/>
                  </a:lnTo>
                  <a:lnTo>
                    <a:pt x="12192000" y="63703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0" y="637032"/>
                  </a:moveTo>
                  <a:lnTo>
                    <a:pt x="12192000" y="637032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7032"/>
                  </a:lnTo>
                  <a:close/>
                </a:path>
              </a:pathLst>
            </a:custGeom>
            <a:ln w="126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3D784422-014D-5CEE-BDAB-EBC6EA68141B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33400" y="6432753"/>
            <a:ext cx="108204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IN" spc="-80" dirty="0"/>
              <a:t>DTIE  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lang="en-IN" spc="-110" dirty="0"/>
              <a:t>      </a:t>
            </a:r>
            <a:r>
              <a:rPr lang="en-US" spc="-110" dirty="0"/>
              <a:t>Department of Multi Disciplinary Innovation &amp; Entrepreneurship </a:t>
            </a:r>
            <a:endParaRPr spc="-50" dirty="0"/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5349240" cy="4343400"/>
          </a:xfrm>
          <a:prstGeom prst="roundRect">
            <a:avLst/>
          </a:prstGeom>
          <a:solidFill>
            <a:srgbClr val="EFF4F4"/>
          </a:solidFill>
          <a:ln>
            <a:solidFill>
              <a:srgbClr val="DA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600200"/>
            <a:ext cx="82296" cy="4343400"/>
          </a:xfrm>
          <a:prstGeom prst="rect">
            <a:avLst/>
          </a:prstGeom>
          <a:solidFill>
            <a:srgbClr val="237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1" y="1673352"/>
            <a:ext cx="5074920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F364A"/>
                </a:solidFill>
                <a:latin typeface="Aptos"/>
              </a:defRPr>
            </a:pPr>
            <a:r>
              <a:t>Primary Users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057400"/>
            <a:ext cx="5056631" cy="383133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30373D"/>
                </a:solidFill>
                <a:latin typeface="Aptos"/>
              </a:defRPr>
            </a:pPr>
            <a:r>
              <a:t>Students — view overall and subject-wise attendance, history, and alerts.</a:t>
            </a:r>
          </a:p>
          <a:p>
            <a:pPr>
              <a:spcAft>
                <a:spcPts val="700"/>
              </a:spcAft>
              <a:defRPr sz="1600" b="0">
                <a:solidFill>
                  <a:srgbClr val="30373D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600" b="0">
                <a:solidFill>
                  <a:srgbClr val="30373D"/>
                </a:solidFill>
                <a:latin typeface="Aptos"/>
              </a:defRPr>
            </a:pPr>
            <a:r>
              <a:t>Faculty — mark a class quickly and review the class list.</a:t>
            </a:r>
          </a:p>
          <a:p>
            <a:pPr>
              <a:spcAft>
                <a:spcPts val="700"/>
              </a:spcAft>
              <a:defRPr sz="1600" b="0">
                <a:solidFill>
                  <a:srgbClr val="30373D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600" b="0">
                <a:solidFill>
                  <a:srgbClr val="30373D"/>
                </a:solidFill>
                <a:latin typeface="Aptos"/>
              </a:defRPr>
            </a:pPr>
            <a:r>
              <a:t>Administrators — monitor college-wide patterns and produce reports.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00200"/>
            <a:ext cx="5349240" cy="4343400"/>
          </a:xfrm>
          <a:prstGeom prst="roundRect">
            <a:avLst/>
          </a:prstGeom>
          <a:solidFill>
            <a:srgbClr val="EFF4F4"/>
          </a:solidFill>
          <a:ln>
            <a:solidFill>
              <a:srgbClr val="DA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600200"/>
            <a:ext cx="82296" cy="4343400"/>
          </a:xfrm>
          <a:prstGeom prst="rect">
            <a:avLst/>
          </a:prstGeom>
          <a:solidFill>
            <a:srgbClr val="BE8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82512" y="1673352"/>
            <a:ext cx="5074920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F364A"/>
                </a:solidFill>
                <a:latin typeface="Aptos"/>
              </a:defRPr>
            </a:pPr>
            <a:r>
              <a:t>Other Stakeholders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2057400"/>
            <a:ext cx="5056631" cy="383133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30373D"/>
                </a:solidFill>
                <a:latin typeface="Aptos"/>
              </a:defRPr>
            </a:pPr>
            <a:r>
              <a:t>Faculty advisors and department heads use risk flags to support students. IT staff manage access, integration, security, and system reliability.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75" dirty="0"/>
              <a:t>Competitors</a:t>
            </a:r>
            <a:r>
              <a:rPr spc="-185" dirty="0"/>
              <a:t> </a:t>
            </a:r>
            <a:r>
              <a:rPr dirty="0"/>
              <a:t>/</a:t>
            </a:r>
            <a:r>
              <a:rPr spc="-170" dirty="0"/>
              <a:t> </a:t>
            </a:r>
            <a:r>
              <a:rPr spc="-50" dirty="0"/>
              <a:t>Benchmarks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-6350" y="6214617"/>
            <a:ext cx="12204700" cy="650240"/>
            <a:chOff x="-6350" y="6214617"/>
            <a:chExt cx="12204700" cy="650240"/>
          </a:xfrm>
        </p:grpSpPr>
        <p:sp>
          <p:nvSpPr>
            <p:cNvPr id="4" name="object 4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12192000" y="0"/>
                  </a:moveTo>
                  <a:lnTo>
                    <a:pt x="0" y="0"/>
                  </a:lnTo>
                  <a:lnTo>
                    <a:pt x="0" y="637032"/>
                  </a:lnTo>
                  <a:lnTo>
                    <a:pt x="12192000" y="63703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0" y="637032"/>
                  </a:moveTo>
                  <a:lnTo>
                    <a:pt x="12192000" y="637032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7032"/>
                  </a:lnTo>
                  <a:close/>
                </a:path>
              </a:pathLst>
            </a:custGeom>
            <a:ln w="126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9286AD64-7C4C-FDB5-E9DC-E5FA9F69634C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33400" y="6432753"/>
            <a:ext cx="108204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IN" spc="-80" dirty="0"/>
              <a:t>DTIE  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lang="en-IN" spc="-110" dirty="0"/>
              <a:t>      </a:t>
            </a:r>
            <a:r>
              <a:rPr lang="en-US" spc="-110" dirty="0"/>
              <a:t>Department of Multi Disciplinary Innovation &amp; Entrepreneurship </a:t>
            </a:r>
            <a:endParaRPr spc="-50" dirty="0"/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5349240" cy="4343400"/>
          </a:xfrm>
          <a:prstGeom prst="roundRect">
            <a:avLst/>
          </a:prstGeom>
          <a:solidFill>
            <a:srgbClr val="EFF4F4"/>
          </a:solidFill>
          <a:ln>
            <a:solidFill>
              <a:srgbClr val="DA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600200"/>
            <a:ext cx="82296" cy="4343400"/>
          </a:xfrm>
          <a:prstGeom prst="rect">
            <a:avLst/>
          </a:prstGeom>
          <a:solidFill>
            <a:srgbClr val="237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1" y="1673352"/>
            <a:ext cx="5074920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F364A"/>
                </a:solidFill>
                <a:latin typeface="Aptos"/>
              </a:defRPr>
            </a:pPr>
            <a:r>
              <a:t>Existing Alternatives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057400"/>
            <a:ext cx="5056631" cy="383133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30373D"/>
                </a:solidFill>
                <a:latin typeface="Aptos"/>
              </a:defRPr>
            </a:pPr>
            <a:r>
              <a:t>Manual registers / spreadsheets — inexpensive to start, but time-consuming and hard to update consistently.</a:t>
            </a:r>
          </a:p>
          <a:p>
            <a:pPr>
              <a:spcAft>
                <a:spcPts val="700"/>
              </a:spcAft>
              <a:defRPr sz="1600" b="0">
                <a:solidFill>
                  <a:srgbClr val="30373D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600" b="0">
                <a:solidFill>
                  <a:srgbClr val="30373D"/>
                </a:solidFill>
                <a:latin typeface="Aptos"/>
              </a:defRPr>
            </a:pPr>
            <a:r>
              <a:t>Standalone QR or mobile apps — faster capture, but may not provide complete analytics.</a:t>
            </a:r>
          </a:p>
          <a:p>
            <a:pPr>
              <a:spcAft>
                <a:spcPts val="700"/>
              </a:spcAft>
              <a:defRPr sz="1600" b="0">
                <a:solidFill>
                  <a:srgbClr val="30373D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600" b="0">
                <a:solidFill>
                  <a:srgbClr val="30373D"/>
                </a:solidFill>
                <a:latin typeface="Aptos"/>
              </a:defRPr>
            </a:pPr>
            <a:r>
              <a:t>Biometric / RFID systems — stronger identity or proximity checks, with added hardware and maintenance.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00200"/>
            <a:ext cx="5349240" cy="4343400"/>
          </a:xfrm>
          <a:prstGeom prst="roundRect">
            <a:avLst/>
          </a:prstGeom>
          <a:solidFill>
            <a:srgbClr val="EFF4F4"/>
          </a:solidFill>
          <a:ln>
            <a:solidFill>
              <a:srgbClr val="DA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600200"/>
            <a:ext cx="82296" cy="4343400"/>
          </a:xfrm>
          <a:prstGeom prst="rect">
            <a:avLst/>
          </a:prstGeom>
          <a:solidFill>
            <a:srgbClr val="BE8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82512" y="1673352"/>
            <a:ext cx="5074920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F364A"/>
                </a:solidFill>
                <a:latin typeface="Aptos"/>
              </a:defRPr>
            </a:pPr>
            <a:r>
              <a:t>Benchmark for Our Idea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2057400"/>
            <a:ext cx="5056631" cy="383133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30373D"/>
                </a:solidFill>
                <a:latin typeface="Aptos"/>
              </a:defRPr>
            </a:pPr>
            <a:r>
              <a:t>Combine fast QR attendance, optional biometric verification, cloud synchronization, and analytics in one workflow. Specific competitor pricing and feature comparisons still need local market research.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60" dirty="0"/>
              <a:t>Risks</a:t>
            </a:r>
            <a:r>
              <a:rPr spc="-190" dirty="0"/>
              <a:t> </a:t>
            </a:r>
            <a:r>
              <a:rPr spc="-25" dirty="0"/>
              <a:t>and</a:t>
            </a:r>
            <a:r>
              <a:rPr spc="-204" dirty="0"/>
              <a:t> </a:t>
            </a:r>
            <a:r>
              <a:rPr spc="-25" dirty="0"/>
              <a:t>Gap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-6350" y="6214617"/>
            <a:ext cx="12204700" cy="650240"/>
            <a:chOff x="-6350" y="6214617"/>
            <a:chExt cx="12204700" cy="650240"/>
          </a:xfrm>
        </p:grpSpPr>
        <p:sp>
          <p:nvSpPr>
            <p:cNvPr id="4" name="object 4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12192000" y="0"/>
                  </a:moveTo>
                  <a:lnTo>
                    <a:pt x="0" y="0"/>
                  </a:lnTo>
                  <a:lnTo>
                    <a:pt x="0" y="637032"/>
                  </a:lnTo>
                  <a:lnTo>
                    <a:pt x="12192000" y="63703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0" y="637032"/>
                  </a:moveTo>
                  <a:lnTo>
                    <a:pt x="12192000" y="637032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7032"/>
                  </a:lnTo>
                  <a:close/>
                </a:path>
              </a:pathLst>
            </a:custGeom>
            <a:ln w="126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A1844CD1-F59C-0792-D85E-23EBE09D9662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33400" y="6432753"/>
            <a:ext cx="108204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IN" spc="-80" dirty="0"/>
              <a:t>DTIE  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lang="en-IN" spc="-110" dirty="0"/>
              <a:t>      </a:t>
            </a:r>
            <a:r>
              <a:rPr lang="en-US" spc="-110" dirty="0"/>
              <a:t>Department of Multi Disciplinary Innovation &amp; Entrepreneurship </a:t>
            </a:r>
            <a:endParaRPr spc="-50" dirty="0"/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5349240" cy="4343400"/>
          </a:xfrm>
          <a:prstGeom prst="roundRect">
            <a:avLst/>
          </a:prstGeom>
          <a:solidFill>
            <a:srgbClr val="EFF4F4"/>
          </a:solidFill>
          <a:ln>
            <a:solidFill>
              <a:srgbClr val="DA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600200"/>
            <a:ext cx="82296" cy="4343400"/>
          </a:xfrm>
          <a:prstGeom prst="rect">
            <a:avLst/>
          </a:prstGeom>
          <a:solidFill>
            <a:srgbClr val="237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1" y="1673352"/>
            <a:ext cx="5074920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F364A"/>
                </a:solidFill>
                <a:latin typeface="Aptos"/>
              </a:defRPr>
            </a:pPr>
            <a:r>
              <a:t>Key Risks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057400"/>
            <a:ext cx="5056631" cy="383133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30373D"/>
                </a:solidFill>
                <a:latin typeface="Aptos"/>
              </a:defRPr>
            </a:pPr>
            <a:r>
              <a:t>Proxy attendance or QR sharing; network outages; privacy and data-security concerns; device or biometric failures; user resistance; integration and maintenance costs.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00200"/>
            <a:ext cx="5349240" cy="4343400"/>
          </a:xfrm>
          <a:prstGeom prst="roundRect">
            <a:avLst/>
          </a:prstGeom>
          <a:solidFill>
            <a:srgbClr val="EFF4F4"/>
          </a:solidFill>
          <a:ln>
            <a:solidFill>
              <a:srgbClr val="DA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600200"/>
            <a:ext cx="82296" cy="4343400"/>
          </a:xfrm>
          <a:prstGeom prst="rect">
            <a:avLst/>
          </a:prstGeom>
          <a:solidFill>
            <a:srgbClr val="BE8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82512" y="1673352"/>
            <a:ext cx="5074920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F364A"/>
                </a:solidFill>
                <a:latin typeface="Aptos"/>
              </a:defRPr>
            </a:pPr>
            <a:r>
              <a:t>Gaps &amp; Mitigations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2057400"/>
            <a:ext cx="5056631" cy="383133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30373D"/>
                </a:solidFill>
                <a:latin typeface="Aptos"/>
              </a:defRPr>
            </a:pPr>
            <a:r>
              <a:t>Use time-limited dynamic QR codes and optional identity checks; provide a controlled manual fallback; apply role-based access, encryption, audit logs, backups, and clear data-retention rules. Test with users before rollout.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3400" y="609676"/>
            <a:ext cx="101346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85" dirty="0"/>
              <a:t>Concept/Idea/Prototype/Product/Solution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-6350" y="6214617"/>
            <a:ext cx="12204700" cy="650240"/>
            <a:chOff x="-6350" y="6214617"/>
            <a:chExt cx="12204700" cy="650240"/>
          </a:xfrm>
        </p:grpSpPr>
        <p:sp>
          <p:nvSpPr>
            <p:cNvPr id="4" name="object 4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12192000" y="0"/>
                  </a:moveTo>
                  <a:lnTo>
                    <a:pt x="0" y="0"/>
                  </a:lnTo>
                  <a:lnTo>
                    <a:pt x="0" y="637032"/>
                  </a:lnTo>
                  <a:lnTo>
                    <a:pt x="12192000" y="63703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0" y="637032"/>
                  </a:moveTo>
                  <a:lnTo>
                    <a:pt x="12192000" y="637032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7032"/>
                  </a:lnTo>
                  <a:close/>
                </a:path>
              </a:pathLst>
            </a:custGeom>
            <a:ln w="126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392EDACC-CD19-7A71-8718-2D25053A38A7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33400" y="6432753"/>
            <a:ext cx="108204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IN" spc="-80" dirty="0"/>
              <a:t>DTIE  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lang="en-IN" spc="-110" dirty="0"/>
              <a:t>      </a:t>
            </a:r>
            <a:r>
              <a:rPr lang="en-US" spc="-110" dirty="0"/>
              <a:t>Department of Multi Disciplinary Innovation &amp; Entrepreneurship </a:t>
            </a:r>
            <a:endParaRPr spc="-50" dirty="0"/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5349240" cy="4343400"/>
          </a:xfrm>
          <a:prstGeom prst="roundRect">
            <a:avLst/>
          </a:prstGeom>
          <a:solidFill>
            <a:srgbClr val="EFF4F4"/>
          </a:solidFill>
          <a:ln>
            <a:solidFill>
              <a:srgbClr val="DA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600200"/>
            <a:ext cx="82296" cy="4343400"/>
          </a:xfrm>
          <a:prstGeom prst="rect">
            <a:avLst/>
          </a:prstGeom>
          <a:solidFill>
            <a:srgbClr val="237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1" y="1673352"/>
            <a:ext cx="5074920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F364A"/>
                </a:solidFill>
                <a:latin typeface="Aptos"/>
              </a:defRPr>
            </a:pPr>
            <a:r>
              <a:t>Proposed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057400"/>
            <a:ext cx="5056631" cy="383133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30373D"/>
                </a:solidFill>
                <a:latin typeface="Aptos"/>
              </a:defRPr>
            </a:pPr>
            <a:r>
              <a:t>A cloud-based attendance platform with secure login, QR-based capture, optional biometric verification, a central database, and analytics for students, faculty, and administrators.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00200"/>
            <a:ext cx="5349240" cy="4343400"/>
          </a:xfrm>
          <a:prstGeom prst="roundRect">
            <a:avLst/>
          </a:prstGeom>
          <a:solidFill>
            <a:srgbClr val="EFF4F4"/>
          </a:solidFill>
          <a:ln>
            <a:solidFill>
              <a:srgbClr val="DA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600200"/>
            <a:ext cx="82296" cy="4343400"/>
          </a:xfrm>
          <a:prstGeom prst="rect">
            <a:avLst/>
          </a:prstGeom>
          <a:solidFill>
            <a:srgbClr val="BE8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82512" y="1673352"/>
            <a:ext cx="5074920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F364A"/>
                </a:solidFill>
                <a:latin typeface="Aptos"/>
              </a:defRPr>
            </a:pPr>
            <a:r>
              <a:t>Core 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2057400"/>
            <a:ext cx="5056631" cy="383133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30373D"/>
                </a:solidFill>
                <a:latin typeface="Aptos"/>
              </a:defRPr>
            </a:pPr>
            <a:r>
              <a:t>Student dashboard and low-attendance alerts • Faculty QR generation and instant class reports • Admin analytics and compliance reports • Risk flags for attendance below 75% • Cloud sync across interfaces.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85" dirty="0"/>
              <a:t>Images/Storyboard/Architecture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-6350" y="6214617"/>
            <a:ext cx="12204700" cy="650240"/>
            <a:chOff x="-6350" y="6214617"/>
            <a:chExt cx="12204700" cy="650240"/>
          </a:xfrm>
        </p:grpSpPr>
        <p:sp>
          <p:nvSpPr>
            <p:cNvPr id="4" name="object 4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12192000" y="0"/>
                  </a:moveTo>
                  <a:lnTo>
                    <a:pt x="0" y="0"/>
                  </a:lnTo>
                  <a:lnTo>
                    <a:pt x="0" y="637032"/>
                  </a:lnTo>
                  <a:lnTo>
                    <a:pt x="12192000" y="63703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0" y="637032"/>
                  </a:moveTo>
                  <a:lnTo>
                    <a:pt x="12192000" y="637032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7032"/>
                  </a:lnTo>
                  <a:close/>
                </a:path>
              </a:pathLst>
            </a:custGeom>
            <a:ln w="126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5D93B669-77C1-4A0C-A98C-738A11D7E6FC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33400" y="6432753"/>
            <a:ext cx="108204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IN" spc="-80" dirty="0"/>
              <a:t>DTIE  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lang="en-IN" spc="-110" dirty="0"/>
              <a:t>      </a:t>
            </a:r>
            <a:r>
              <a:rPr lang="en-US" spc="-110" dirty="0"/>
              <a:t>Department of Multi Disciplinary Innovation &amp; Entrepreneurship </a:t>
            </a:r>
            <a:endParaRPr spc="-50" dirty="0"/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5349240" cy="4343400"/>
          </a:xfrm>
          <a:prstGeom prst="roundRect">
            <a:avLst/>
          </a:prstGeom>
          <a:solidFill>
            <a:srgbClr val="EFF4F4"/>
          </a:solidFill>
          <a:ln>
            <a:solidFill>
              <a:srgbClr val="DA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600200"/>
            <a:ext cx="82296" cy="4343400"/>
          </a:xfrm>
          <a:prstGeom prst="rect">
            <a:avLst/>
          </a:prstGeom>
          <a:solidFill>
            <a:srgbClr val="237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1" y="1673352"/>
            <a:ext cx="5074920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F364A"/>
                </a:solidFill>
                <a:latin typeface="Aptos"/>
              </a:defRPr>
            </a:pPr>
            <a:r>
              <a:t>System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057400"/>
            <a:ext cx="5056631" cy="383133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30373D"/>
                </a:solidFill>
                <a:latin typeface="Aptos"/>
              </a:defRPr>
            </a:pPr>
            <a:r>
              <a:t>1. User interfaces: student, faculty, admin</a:t>
            </a:r>
          </a:p>
          <a:p>
            <a:pPr>
              <a:spcAft>
                <a:spcPts val="700"/>
              </a:spcAft>
              <a:defRPr sz="1600" b="0">
                <a:solidFill>
                  <a:srgbClr val="30373D"/>
                </a:solidFill>
                <a:latin typeface="Aptos"/>
              </a:defRPr>
            </a:pPr>
            <a:r>
              <a:t>↓</a:t>
            </a:r>
          </a:p>
          <a:p>
            <a:pPr>
              <a:spcAft>
                <a:spcPts val="700"/>
              </a:spcAft>
              <a:defRPr sz="1600" b="0">
                <a:solidFill>
                  <a:srgbClr val="30373D"/>
                </a:solidFill>
                <a:latin typeface="Aptos"/>
              </a:defRPr>
            </a:pPr>
            <a:r>
              <a:t>2. Authentication &amp; verification</a:t>
            </a:r>
          </a:p>
          <a:p>
            <a:pPr>
              <a:spcAft>
                <a:spcPts val="700"/>
              </a:spcAft>
              <a:defRPr sz="1600" b="0">
                <a:solidFill>
                  <a:srgbClr val="30373D"/>
                </a:solidFill>
                <a:latin typeface="Aptos"/>
              </a:defRPr>
            </a:pPr>
            <a:r>
              <a:t>↓</a:t>
            </a:r>
          </a:p>
          <a:p>
            <a:pPr>
              <a:spcAft>
                <a:spcPts val="700"/>
              </a:spcAft>
              <a:defRPr sz="1600" b="0">
                <a:solidFill>
                  <a:srgbClr val="30373D"/>
                </a:solidFill>
                <a:latin typeface="Aptos"/>
              </a:defRPr>
            </a:pPr>
            <a:r>
              <a:t>3. Attendance capture: dynamic QR / optional biometric</a:t>
            </a:r>
          </a:p>
          <a:p>
            <a:pPr>
              <a:spcAft>
                <a:spcPts val="700"/>
              </a:spcAft>
              <a:defRPr sz="1600" b="0">
                <a:solidFill>
                  <a:srgbClr val="30373D"/>
                </a:solidFill>
                <a:latin typeface="Aptos"/>
              </a:defRPr>
            </a:pPr>
            <a:r>
              <a:t>↓</a:t>
            </a:r>
          </a:p>
          <a:p>
            <a:pPr>
              <a:spcAft>
                <a:spcPts val="700"/>
              </a:spcAft>
              <a:defRPr sz="1600" b="0">
                <a:solidFill>
                  <a:srgbClr val="30373D"/>
                </a:solidFill>
                <a:latin typeface="Aptos"/>
              </a:defRPr>
            </a:pPr>
            <a:r>
              <a:t>4. Attendance processing and validation</a:t>
            </a:r>
          </a:p>
          <a:p>
            <a:pPr>
              <a:spcAft>
                <a:spcPts val="700"/>
              </a:spcAft>
              <a:defRPr sz="1600" b="0">
                <a:solidFill>
                  <a:srgbClr val="30373D"/>
                </a:solidFill>
                <a:latin typeface="Aptos"/>
              </a:defRPr>
            </a:pPr>
            <a:r>
              <a:t>↓</a:t>
            </a:r>
          </a:p>
          <a:p>
            <a:pPr>
              <a:spcAft>
                <a:spcPts val="700"/>
              </a:spcAft>
              <a:defRPr sz="1600" b="0">
                <a:solidFill>
                  <a:srgbClr val="30373D"/>
                </a:solidFill>
                <a:latin typeface="Aptos"/>
              </a:defRPr>
            </a:pPr>
            <a:r>
              <a:t>5. Cloud database and audit trail</a:t>
            </a:r>
          </a:p>
          <a:p>
            <a:pPr>
              <a:spcAft>
                <a:spcPts val="700"/>
              </a:spcAft>
              <a:defRPr sz="1600" b="0">
                <a:solidFill>
                  <a:srgbClr val="30373D"/>
                </a:solidFill>
                <a:latin typeface="Aptos"/>
              </a:defRPr>
            </a:pPr>
            <a:r>
              <a:t>↓</a:t>
            </a:r>
          </a:p>
          <a:p>
            <a:pPr>
              <a:spcAft>
                <a:spcPts val="700"/>
              </a:spcAft>
              <a:defRPr sz="1600" b="0">
                <a:solidFill>
                  <a:srgbClr val="30373D"/>
                </a:solidFill>
                <a:latin typeface="Aptos"/>
              </a:defRPr>
            </a:pPr>
            <a:r>
              <a:t>6. Analytics engine and risk flags</a:t>
            </a:r>
          </a:p>
          <a:p>
            <a:pPr>
              <a:spcAft>
                <a:spcPts val="700"/>
              </a:spcAft>
              <a:defRPr sz="1600" b="0">
                <a:solidFill>
                  <a:srgbClr val="30373D"/>
                </a:solidFill>
                <a:latin typeface="Aptos"/>
              </a:defRPr>
            </a:pPr>
            <a:r>
              <a:t>↓</a:t>
            </a:r>
          </a:p>
          <a:p>
            <a:pPr>
              <a:spcAft>
                <a:spcPts val="700"/>
              </a:spcAft>
              <a:defRPr sz="1600" b="0">
                <a:solidFill>
                  <a:srgbClr val="30373D"/>
                </a:solidFill>
                <a:latin typeface="Aptos"/>
              </a:defRPr>
            </a:pPr>
            <a:r>
              <a:t>7. Dashboards, reports, and notifications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00200"/>
            <a:ext cx="5349240" cy="4343400"/>
          </a:xfrm>
          <a:prstGeom prst="roundRect">
            <a:avLst/>
          </a:prstGeom>
          <a:solidFill>
            <a:srgbClr val="EFF4F4"/>
          </a:solidFill>
          <a:ln>
            <a:solidFill>
              <a:srgbClr val="DA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600200"/>
            <a:ext cx="82296" cy="4343400"/>
          </a:xfrm>
          <a:prstGeom prst="rect">
            <a:avLst/>
          </a:prstGeom>
          <a:solidFill>
            <a:srgbClr val="BE8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82512" y="1673352"/>
            <a:ext cx="5074920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F364A"/>
                </a:solidFill>
                <a:latin typeface="Aptos"/>
              </a:defRPr>
            </a:pPr>
            <a:r>
              <a:t>Workflow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2057400"/>
            <a:ext cx="5056631" cy="383133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30373D"/>
                </a:solidFill>
                <a:latin typeface="Aptos"/>
              </a:defRPr>
            </a:pPr>
            <a:r>
              <a:t>Identify student → verify identity / session → record attendance → sync to cloud → refresh dashboards and send alerts. The original concept targets a cycle under 3 seconds; performance must be validated in testing.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8" y="609676"/>
            <a:ext cx="5560061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60" dirty="0"/>
              <a:t>Lean Canvas</a:t>
            </a:r>
            <a:r>
              <a:rPr spc="-185" dirty="0"/>
              <a:t> </a:t>
            </a:r>
            <a:r>
              <a:rPr spc="-30" dirty="0"/>
              <a:t>Model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-6350" y="6214617"/>
            <a:ext cx="12204700" cy="650240"/>
            <a:chOff x="-6350" y="6214617"/>
            <a:chExt cx="12204700" cy="650240"/>
          </a:xfrm>
        </p:grpSpPr>
        <p:sp>
          <p:nvSpPr>
            <p:cNvPr id="4" name="object 4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12192000" y="0"/>
                  </a:moveTo>
                  <a:lnTo>
                    <a:pt x="0" y="0"/>
                  </a:lnTo>
                  <a:lnTo>
                    <a:pt x="0" y="637032"/>
                  </a:lnTo>
                  <a:lnTo>
                    <a:pt x="12192000" y="63703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0" y="637032"/>
                  </a:moveTo>
                  <a:lnTo>
                    <a:pt x="12192000" y="637032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7032"/>
                  </a:lnTo>
                  <a:close/>
                </a:path>
              </a:pathLst>
            </a:custGeom>
            <a:ln w="126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BFB487C9-3839-22C2-01F2-1C93656AB434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33400" y="6432753"/>
            <a:ext cx="108204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IN" spc="-80" dirty="0"/>
              <a:t>DTIE  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lang="en-IN" spc="-110" dirty="0"/>
              <a:t>      </a:t>
            </a:r>
            <a:r>
              <a:rPr lang="en-US" spc="-110" dirty="0"/>
              <a:t>Department of Multi Disciplinary Innovation &amp; Entrepreneurship </a:t>
            </a:r>
            <a:endParaRPr spc="-5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508760"/>
            <a:ext cx="3611880" cy="1325880"/>
          </a:xfrm>
          <a:prstGeom prst="roundRect">
            <a:avLst/>
          </a:prstGeom>
          <a:solidFill>
            <a:srgbClr val="EFF4F4"/>
          </a:solidFill>
          <a:ln>
            <a:solidFill>
              <a:srgbClr val="DA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508760"/>
            <a:ext cx="82296" cy="1325880"/>
          </a:xfrm>
          <a:prstGeom prst="rect">
            <a:avLst/>
          </a:prstGeom>
          <a:solidFill>
            <a:srgbClr val="237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" y="1581912"/>
            <a:ext cx="3337560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F364A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1965960"/>
            <a:ext cx="3319272" cy="81381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050" b="0">
                <a:solidFill>
                  <a:srgbClr val="30373D"/>
                </a:solidFill>
                <a:latin typeface="Aptos"/>
              </a:defRPr>
            </a:pPr>
            <a:r>
              <a:t>Manual attendance is slow; records can be inconsistent; reports and interventions are delayed.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9392" y="1508760"/>
            <a:ext cx="3611880" cy="1325880"/>
          </a:xfrm>
          <a:prstGeom prst="roundRect">
            <a:avLst/>
          </a:prstGeom>
          <a:solidFill>
            <a:srgbClr val="EFF4F4"/>
          </a:solidFill>
          <a:ln>
            <a:solidFill>
              <a:srgbClr val="DA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79392" y="1508760"/>
            <a:ext cx="82296" cy="1325880"/>
          </a:xfrm>
          <a:prstGeom prst="rect">
            <a:avLst/>
          </a:prstGeom>
          <a:solidFill>
            <a:srgbClr val="BE8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43983" y="1581912"/>
            <a:ext cx="3337560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F364A"/>
                </a:solidFill>
                <a:latin typeface="Aptos"/>
              </a:defRPr>
            </a:pPr>
            <a:r>
              <a:t>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983" y="1965960"/>
            <a:ext cx="3319272" cy="81381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050" b="0">
                <a:solidFill>
                  <a:srgbClr val="30373D"/>
                </a:solidFill>
                <a:latin typeface="Aptos"/>
              </a:defRPr>
            </a:pPr>
            <a:r>
              <a:t>Dynamic QR + optional verification, centralized cloud records, dashboards, and predictive risk alerts.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508760"/>
            <a:ext cx="3611880" cy="1325880"/>
          </a:xfrm>
          <a:prstGeom prst="roundRect">
            <a:avLst/>
          </a:prstGeom>
          <a:solidFill>
            <a:srgbClr val="EFF4F4"/>
          </a:solidFill>
          <a:ln>
            <a:solidFill>
              <a:srgbClr val="DA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508760"/>
            <a:ext cx="82296" cy="1325880"/>
          </a:xfrm>
          <a:prstGeom prst="rect">
            <a:avLst/>
          </a:prstGeom>
          <a:solidFill>
            <a:srgbClr val="237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11312" y="1581912"/>
            <a:ext cx="3337560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F364A"/>
                </a:solidFill>
                <a:latin typeface="Aptos"/>
              </a:defRPr>
            </a:pPr>
            <a:r>
              <a:t>Users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1312" y="1965960"/>
            <a:ext cx="3319272" cy="81381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050" b="0">
                <a:solidFill>
                  <a:srgbClr val="30373D"/>
                </a:solidFill>
                <a:latin typeface="Aptos"/>
              </a:defRPr>
            </a:pPr>
            <a:r>
              <a:t>Students, faculty, administrators, faculty advisors.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2971800"/>
            <a:ext cx="3611880" cy="1325880"/>
          </a:xfrm>
          <a:prstGeom prst="roundRect">
            <a:avLst/>
          </a:prstGeom>
          <a:solidFill>
            <a:srgbClr val="EFF4F4"/>
          </a:solidFill>
          <a:ln>
            <a:solidFill>
              <a:srgbClr val="DA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2920" y="2971800"/>
            <a:ext cx="82296" cy="1325880"/>
          </a:xfrm>
          <a:prstGeom prst="rect">
            <a:avLst/>
          </a:prstGeom>
          <a:solidFill>
            <a:srgbClr val="BE8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7512" y="3044952"/>
            <a:ext cx="3337560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F364A"/>
                </a:solidFill>
                <a:latin typeface="Aptos"/>
              </a:defRPr>
            </a:pPr>
            <a:r>
              <a:t>Value Proposition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" y="3429000"/>
            <a:ext cx="3319272" cy="81381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050" b="0">
                <a:solidFill>
                  <a:srgbClr val="30373D"/>
                </a:solidFill>
                <a:latin typeface="Aptos"/>
              </a:defRPr>
            </a:pPr>
            <a:r>
              <a:t>Save class time, improve visibility, reduce record errors, and support timely student intervention.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79392" y="2971800"/>
            <a:ext cx="3611880" cy="1325880"/>
          </a:xfrm>
          <a:prstGeom prst="roundRect">
            <a:avLst/>
          </a:prstGeom>
          <a:solidFill>
            <a:srgbClr val="EFF4F4"/>
          </a:solidFill>
          <a:ln>
            <a:solidFill>
              <a:srgbClr val="DA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279392" y="2971800"/>
            <a:ext cx="82296" cy="1325880"/>
          </a:xfrm>
          <a:prstGeom prst="rect">
            <a:avLst/>
          </a:prstGeom>
          <a:solidFill>
            <a:srgbClr val="237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43983" y="3044952"/>
            <a:ext cx="3337560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F364A"/>
                </a:solidFill>
                <a:latin typeface="Aptos"/>
              </a:defRPr>
            </a:pPr>
            <a:r>
              <a:t>Channels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3983" y="3429000"/>
            <a:ext cx="3319272" cy="81381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050" b="0">
                <a:solidFill>
                  <a:srgbClr val="30373D"/>
                </a:solidFill>
                <a:latin typeface="Aptos"/>
              </a:defRPr>
            </a:pPr>
            <a:r>
              <a:t>College web portal, mobile-friendly interface, department onboarding, campus IT.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2971800"/>
            <a:ext cx="3611880" cy="1325880"/>
          </a:xfrm>
          <a:prstGeom prst="roundRect">
            <a:avLst/>
          </a:prstGeom>
          <a:solidFill>
            <a:srgbClr val="EFF4F4"/>
          </a:solidFill>
          <a:ln>
            <a:solidFill>
              <a:srgbClr val="DA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046720" y="2971800"/>
            <a:ext cx="82296" cy="1325880"/>
          </a:xfrm>
          <a:prstGeom prst="rect">
            <a:avLst/>
          </a:prstGeom>
          <a:solidFill>
            <a:srgbClr val="BE8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11312" y="3044952"/>
            <a:ext cx="3337560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F364A"/>
                </a:solidFill>
                <a:latin typeface="Aptos"/>
              </a:defRPr>
            </a:pPr>
            <a:r>
              <a:t>Revenue / Sustainability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11312" y="3429000"/>
            <a:ext cx="3319272" cy="81381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050" b="0">
                <a:solidFill>
                  <a:srgbClr val="30373D"/>
                </a:solidFill>
                <a:latin typeface="Aptos"/>
              </a:defRPr>
            </a:pPr>
            <a:r>
              <a:t>Possible institutional subscription or annual license; optional setup, integration, and support fees.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4434840"/>
            <a:ext cx="3611880" cy="1325880"/>
          </a:xfrm>
          <a:prstGeom prst="roundRect">
            <a:avLst/>
          </a:prstGeom>
          <a:solidFill>
            <a:srgbClr val="EFF4F4"/>
          </a:solidFill>
          <a:ln>
            <a:solidFill>
              <a:srgbClr val="DA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02920" y="4434840"/>
            <a:ext cx="82296" cy="1325880"/>
          </a:xfrm>
          <a:prstGeom prst="rect">
            <a:avLst/>
          </a:prstGeom>
          <a:solidFill>
            <a:srgbClr val="237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67512" y="4507992"/>
            <a:ext cx="3337560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F364A"/>
                </a:solidFill>
                <a:latin typeface="Aptos"/>
              </a:defRPr>
            </a:pPr>
            <a:r>
              <a:t>Costs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" y="4892040"/>
            <a:ext cx="3319272" cy="81381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050" b="0">
                <a:solidFill>
                  <a:srgbClr val="30373D"/>
                </a:solidFill>
                <a:latin typeface="Aptos"/>
              </a:defRPr>
            </a:pPr>
            <a:r>
              <a:t>Development, cloud hosting, security, maintenance, support, and optional QR / biometric hardware.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79392" y="4434840"/>
            <a:ext cx="3611880" cy="1325880"/>
          </a:xfrm>
          <a:prstGeom prst="roundRect">
            <a:avLst/>
          </a:prstGeom>
          <a:solidFill>
            <a:srgbClr val="EFF4F4"/>
          </a:solidFill>
          <a:ln>
            <a:solidFill>
              <a:srgbClr val="DA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279392" y="4434840"/>
            <a:ext cx="82296" cy="1325880"/>
          </a:xfrm>
          <a:prstGeom prst="rect">
            <a:avLst/>
          </a:prstGeom>
          <a:solidFill>
            <a:srgbClr val="BE8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443983" y="4507992"/>
            <a:ext cx="3337560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F364A"/>
                </a:solidFill>
                <a:latin typeface="Aptos"/>
              </a:defRPr>
            </a:pPr>
            <a:r>
              <a:t>Key Metrics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43983" y="4892040"/>
            <a:ext cx="3319272" cy="81381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050" b="0">
                <a:solidFill>
                  <a:srgbClr val="30373D"/>
                </a:solidFill>
                <a:latin typeface="Aptos"/>
              </a:defRPr>
            </a:pPr>
            <a:r>
              <a:t>Time to mark a class, record accuracy, system uptime, adoption rate, alert response, and reduction in manual effort.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46720" y="4434840"/>
            <a:ext cx="3611880" cy="1325880"/>
          </a:xfrm>
          <a:prstGeom prst="roundRect">
            <a:avLst/>
          </a:prstGeom>
          <a:solidFill>
            <a:srgbClr val="EFF4F4"/>
          </a:solidFill>
          <a:ln>
            <a:solidFill>
              <a:srgbClr val="DA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046720" y="4434840"/>
            <a:ext cx="82296" cy="1325880"/>
          </a:xfrm>
          <a:prstGeom prst="rect">
            <a:avLst/>
          </a:prstGeom>
          <a:solidFill>
            <a:srgbClr val="237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211312" y="4507992"/>
            <a:ext cx="3337560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F364A"/>
                </a:solidFill>
                <a:latin typeface="Aptos"/>
              </a:defRPr>
            </a:pPr>
            <a:r>
              <a:t>Unfair Advantage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11312" y="4892040"/>
            <a:ext cx="3319272" cy="81381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050" b="0">
                <a:solidFill>
                  <a:srgbClr val="30373D"/>
                </a:solidFill>
                <a:latin typeface="Aptos"/>
              </a:defRPr>
            </a:pPr>
            <a:r>
              <a:t>One connected workflow from attendance capture to early-warning analytics; advantage depends on reliable implementation and college integration.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65" dirty="0"/>
              <a:t>Capital</a:t>
            </a:r>
            <a:r>
              <a:rPr lang="en-US" spc="-65" dirty="0"/>
              <a:t> (Financial)</a:t>
            </a:r>
            <a:endParaRPr spc="-65" dirty="0"/>
          </a:p>
        </p:txBody>
      </p:sp>
      <p:grpSp>
        <p:nvGrpSpPr>
          <p:cNvPr id="3" name="object 3"/>
          <p:cNvGrpSpPr/>
          <p:nvPr/>
        </p:nvGrpSpPr>
        <p:grpSpPr>
          <a:xfrm>
            <a:off x="-6350" y="6214617"/>
            <a:ext cx="12204700" cy="650240"/>
            <a:chOff x="-6350" y="6214617"/>
            <a:chExt cx="12204700" cy="650240"/>
          </a:xfrm>
        </p:grpSpPr>
        <p:sp>
          <p:nvSpPr>
            <p:cNvPr id="4" name="object 4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12192000" y="0"/>
                  </a:moveTo>
                  <a:lnTo>
                    <a:pt x="0" y="0"/>
                  </a:lnTo>
                  <a:lnTo>
                    <a:pt x="0" y="637032"/>
                  </a:lnTo>
                  <a:lnTo>
                    <a:pt x="12192000" y="63703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0" y="637032"/>
                  </a:moveTo>
                  <a:lnTo>
                    <a:pt x="12192000" y="637032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7032"/>
                  </a:lnTo>
                  <a:close/>
                </a:path>
              </a:pathLst>
            </a:custGeom>
            <a:ln w="126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4248BDDA-C048-8531-B229-A919C2BFDFFB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33400" y="6432753"/>
            <a:ext cx="108204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IN" spc="-80" dirty="0"/>
              <a:t>DTIE  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lang="en-IN" spc="-110" dirty="0"/>
              <a:t>      </a:t>
            </a:r>
            <a:r>
              <a:rPr lang="en-US" spc="-110" dirty="0"/>
              <a:t>Department of Multi Disciplinary Innovation &amp; Entrepreneurship </a:t>
            </a:r>
            <a:endParaRPr spc="-50" dirty="0"/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5349240" cy="4343400"/>
          </a:xfrm>
          <a:prstGeom prst="roundRect">
            <a:avLst/>
          </a:prstGeom>
          <a:solidFill>
            <a:srgbClr val="EFF4F4"/>
          </a:solidFill>
          <a:ln>
            <a:solidFill>
              <a:srgbClr val="DA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600200"/>
            <a:ext cx="82296" cy="4343400"/>
          </a:xfrm>
          <a:prstGeom prst="rect">
            <a:avLst/>
          </a:prstGeom>
          <a:solidFill>
            <a:srgbClr val="237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1" y="1673352"/>
            <a:ext cx="5074920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F364A"/>
                </a:solidFill>
                <a:latin typeface="Aptos"/>
              </a:defRPr>
            </a:pPr>
            <a:r>
              <a:t>Planning Estimate (Illustrative)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057400"/>
            <a:ext cx="5056631" cy="383133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30373D"/>
                </a:solidFill>
                <a:latin typeface="Aptos"/>
              </a:defRPr>
            </a:pPr>
            <a:r>
              <a:t>Software design &amp; development: ₹1,20,000</a:t>
            </a:r>
          </a:p>
          <a:p>
            <a:pPr>
              <a:spcAft>
                <a:spcPts val="700"/>
              </a:spcAft>
              <a:defRPr sz="1600" b="0">
                <a:solidFill>
                  <a:srgbClr val="30373D"/>
                </a:solidFill>
                <a:latin typeface="Aptos"/>
              </a:defRPr>
            </a:pPr>
            <a:r>
              <a:t>Cloud hosting, backups &amp; monitoring: ₹24,000 / year</a:t>
            </a:r>
          </a:p>
          <a:p>
            <a:pPr>
              <a:spcAft>
                <a:spcPts val="700"/>
              </a:spcAft>
              <a:defRPr sz="1600" b="0">
                <a:solidFill>
                  <a:srgbClr val="30373D"/>
                </a:solidFill>
                <a:latin typeface="Aptos"/>
              </a:defRPr>
            </a:pPr>
            <a:r>
              <a:t>Security testing &amp; deployment: ₹20,000</a:t>
            </a:r>
          </a:p>
          <a:p>
            <a:pPr>
              <a:spcAft>
                <a:spcPts val="700"/>
              </a:spcAft>
              <a:defRPr sz="1600" b="0">
                <a:solidFill>
                  <a:srgbClr val="30373D"/>
                </a:solidFill>
                <a:latin typeface="Aptos"/>
              </a:defRPr>
            </a:pPr>
            <a:r>
              <a:t>Training and documentation: ₹10,000</a:t>
            </a:r>
          </a:p>
          <a:p>
            <a:pPr>
              <a:spcAft>
                <a:spcPts val="700"/>
              </a:spcAft>
              <a:defRPr sz="1600" b="0">
                <a:solidFill>
                  <a:srgbClr val="30373D"/>
                </a:solidFill>
                <a:latin typeface="Aptos"/>
              </a:defRPr>
            </a:pPr>
            <a:r>
              <a:t>Contingency: ₹16,000</a:t>
            </a:r>
          </a:p>
          <a:p>
            <a:pPr>
              <a:spcAft>
                <a:spcPts val="700"/>
              </a:spcAft>
              <a:defRPr sz="1600" b="0">
                <a:solidFill>
                  <a:srgbClr val="30373D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600" b="0">
                <a:solidFill>
                  <a:srgbClr val="30373D"/>
                </a:solidFill>
                <a:latin typeface="Aptos"/>
              </a:defRPr>
            </a:pPr>
            <a:r>
              <a:t>Estimated first-year pilot budget: ₹1,90,000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00200"/>
            <a:ext cx="5349240" cy="4343400"/>
          </a:xfrm>
          <a:prstGeom prst="roundRect">
            <a:avLst/>
          </a:prstGeom>
          <a:solidFill>
            <a:srgbClr val="EFF4F4"/>
          </a:solidFill>
          <a:ln>
            <a:solidFill>
              <a:srgbClr val="DA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600200"/>
            <a:ext cx="82296" cy="4343400"/>
          </a:xfrm>
          <a:prstGeom prst="rect">
            <a:avLst/>
          </a:prstGeom>
          <a:solidFill>
            <a:srgbClr val="BE8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82512" y="1673352"/>
            <a:ext cx="5074920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F364A"/>
                </a:solidFill>
                <a:latin typeface="Aptos"/>
              </a:defRPr>
            </a:pPr>
            <a:r>
              <a:t>Cost Notes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2057400"/>
            <a:ext cx="5056631" cy="383133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30373D"/>
                </a:solidFill>
                <a:latin typeface="Aptos"/>
              </a:defRPr>
            </a:pPr>
            <a:r>
              <a:t>These are planning assumptions for a small pilot, not vendor quotations. Actual cost depends on number of students, integrations, hosting load, and whether biometric hardware is included. A QR-first pilot can reduce upfront hardware costs.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80" dirty="0"/>
              <a:t>Roadmap/Timeline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-6350" y="6214617"/>
            <a:ext cx="12204700" cy="650240"/>
            <a:chOff x="-6350" y="6214617"/>
            <a:chExt cx="12204700" cy="650240"/>
          </a:xfrm>
        </p:grpSpPr>
        <p:sp>
          <p:nvSpPr>
            <p:cNvPr id="4" name="object 4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12192000" y="0"/>
                  </a:moveTo>
                  <a:lnTo>
                    <a:pt x="0" y="0"/>
                  </a:lnTo>
                  <a:lnTo>
                    <a:pt x="0" y="637032"/>
                  </a:lnTo>
                  <a:lnTo>
                    <a:pt x="12192000" y="63703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0" y="637032"/>
                  </a:moveTo>
                  <a:lnTo>
                    <a:pt x="12192000" y="637032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7032"/>
                  </a:lnTo>
                  <a:close/>
                </a:path>
              </a:pathLst>
            </a:custGeom>
            <a:ln w="126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EA7CE7B1-B734-D71E-7FD3-CC0F5022A70E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33400" y="6432753"/>
            <a:ext cx="108204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IN" spc="-80" dirty="0"/>
              <a:t>DTIE  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lang="en-IN" spc="-110" dirty="0"/>
              <a:t>      </a:t>
            </a:r>
            <a:r>
              <a:rPr lang="en-US" spc="-110" dirty="0"/>
              <a:t>Department of Multi Disciplinary Innovation &amp; Entrepreneurship </a:t>
            </a:r>
            <a:endParaRPr spc="-50" dirty="0"/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5349240" cy="2057400"/>
          </a:xfrm>
          <a:prstGeom prst="roundRect">
            <a:avLst/>
          </a:prstGeom>
          <a:solidFill>
            <a:srgbClr val="EFF4F4"/>
          </a:solidFill>
          <a:ln>
            <a:solidFill>
              <a:srgbClr val="DA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508760"/>
            <a:ext cx="82296" cy="2057400"/>
          </a:xfrm>
          <a:prstGeom prst="rect">
            <a:avLst/>
          </a:prstGeom>
          <a:solidFill>
            <a:srgbClr val="237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1" y="1581912"/>
            <a:ext cx="5074920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F364A"/>
                </a:solidFill>
                <a:latin typeface="Aptos"/>
              </a:defRPr>
            </a:pPr>
            <a:r>
              <a:t>Phase 1 — Discover (Weeks 1–2)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1965960"/>
            <a:ext cx="5056631" cy="154533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30373D"/>
                </a:solidFill>
                <a:latin typeface="Aptos"/>
              </a:defRPr>
            </a:pPr>
            <a:r>
              <a:t>Interview students, faculty, and administrators; map current attendance workflow; define privacy and accuracy requirements.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08760"/>
            <a:ext cx="5349240" cy="2057400"/>
          </a:xfrm>
          <a:prstGeom prst="roundRect">
            <a:avLst/>
          </a:prstGeom>
          <a:solidFill>
            <a:srgbClr val="EFF4F4"/>
          </a:solidFill>
          <a:ln>
            <a:solidFill>
              <a:srgbClr val="DA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508760"/>
            <a:ext cx="82296" cy="2057400"/>
          </a:xfrm>
          <a:prstGeom prst="rect">
            <a:avLst/>
          </a:prstGeom>
          <a:solidFill>
            <a:srgbClr val="BE8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82512" y="1581912"/>
            <a:ext cx="5074920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F364A"/>
                </a:solidFill>
                <a:latin typeface="Aptos"/>
              </a:defRPr>
            </a:pPr>
            <a:r>
              <a:t>Phase 2 — Design &amp; Build (Weeks 3–6)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1965960"/>
            <a:ext cx="5056631" cy="154533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30373D"/>
                </a:solidFill>
                <a:latin typeface="Aptos"/>
              </a:defRPr>
            </a:pPr>
            <a:r>
              <a:t>Create wireframes, authentication, QR attendance flow, database, and role-based dashboards.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EFF4F4"/>
          </a:solidFill>
          <a:ln>
            <a:solidFill>
              <a:srgbClr val="DA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" y="3703320"/>
            <a:ext cx="82296" cy="2057400"/>
          </a:xfrm>
          <a:prstGeom prst="rect">
            <a:avLst/>
          </a:prstGeom>
          <a:solidFill>
            <a:srgbClr val="237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4671" y="3776472"/>
            <a:ext cx="5074920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F364A"/>
                </a:solidFill>
                <a:latin typeface="Aptos"/>
              </a:defRPr>
            </a:pPr>
            <a:r>
              <a:t>Phase 3 — Pilot &amp; Test (Weeks 7–8)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1" y="4160520"/>
            <a:ext cx="5056631" cy="154533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30373D"/>
                </a:solidFill>
                <a:latin typeface="Aptos"/>
              </a:defRPr>
            </a:pPr>
            <a:r>
              <a:t>Pilot with one class or department; test accuracy, usability, access controls, and offline fallback.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703320"/>
            <a:ext cx="5349240" cy="2057400"/>
          </a:xfrm>
          <a:prstGeom prst="roundRect">
            <a:avLst/>
          </a:prstGeom>
          <a:solidFill>
            <a:srgbClr val="EFF4F4"/>
          </a:solidFill>
          <a:ln>
            <a:solidFill>
              <a:srgbClr val="DA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17920" y="3703320"/>
            <a:ext cx="82296" cy="2057400"/>
          </a:xfrm>
          <a:prstGeom prst="rect">
            <a:avLst/>
          </a:prstGeom>
          <a:solidFill>
            <a:srgbClr val="BE8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82512" y="3776472"/>
            <a:ext cx="5074920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F364A"/>
                </a:solidFill>
                <a:latin typeface="Aptos"/>
              </a:defRPr>
            </a:pPr>
            <a:r>
              <a:t>Phase 4 — Improve &amp; Deploy (Weeks 9–10)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4160520"/>
            <a:ext cx="5056631" cy="154533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30373D"/>
                </a:solidFill>
                <a:latin typeface="Aptos"/>
              </a:defRPr>
            </a:pPr>
            <a:r>
              <a:t>Fix issues, train users, launch reports and alerts, measure outcomes, and plan college-wide rollout.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5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771</TotalTime>
  <Words>1151</Words>
  <Application>Microsoft Office PowerPoint</Application>
  <PresentationFormat>Widescreen</PresentationFormat>
  <Paragraphs>132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Carlito</vt:lpstr>
      <vt:lpstr>Trebuchet MS</vt:lpstr>
      <vt:lpstr>Office Theme</vt:lpstr>
      <vt:lpstr>PowerPoint Presentation</vt:lpstr>
      <vt:lpstr>Automated Student Attendance Monitoring &amp; Analytics System</vt:lpstr>
      <vt:lpstr>Team Members</vt:lpstr>
      <vt:lpstr>Vision and Mission</vt:lpstr>
      <vt:lpstr>Problem Statement</vt:lpstr>
      <vt:lpstr>Research / Facts / Market &amp; Industry Study</vt:lpstr>
      <vt:lpstr>Target User - Customer</vt:lpstr>
      <vt:lpstr>Competitors / Benchmarks</vt:lpstr>
      <vt:lpstr>Risks and Gap</vt:lpstr>
      <vt:lpstr>Concept/Idea/Prototype/Product/Solution</vt:lpstr>
      <vt:lpstr>Images/Storyboard/Architecture</vt:lpstr>
      <vt:lpstr>Lean Canvas Model</vt:lpstr>
      <vt:lpstr>Capital (Financial)</vt:lpstr>
      <vt:lpstr>Roadmap/Timeline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Dr. G. Suresh Kumar</dc:creator>
  <cp:lastModifiedBy>neha siddamsetty</cp:lastModifiedBy>
  <cp:revision>8</cp:revision>
  <dcterms:created xsi:type="dcterms:W3CDTF">2024-11-15T04:43:19Z</dcterms:created>
  <dcterms:modified xsi:type="dcterms:W3CDTF">2026-10-16T05:42:13Z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stSaved">
    <vt:filetime>2024-11-15T00:00:00Z</vt:filetime>
  </property>
  <property fmtid="{D5CDD505-2E9C-101B-9397-08002B2CF9AE}" pid="3" name="Producer">
    <vt:lpwstr>3-Heights(TM) PDF Security Shell 4.8.25.2 (http://www.pdf-tools.com)</vt:lpwstr>
  </property>
</Properties>
</file>